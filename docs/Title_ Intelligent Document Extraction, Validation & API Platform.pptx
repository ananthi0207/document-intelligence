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embeddedFontLst>
    <p:embeddedFont>
      <p:font typeface="Roboto Mono" panose="00000009000000000000" pitchFamily="49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BEDBF6-92C2-4FDE-9F8A-C136DC636DB9}">
  <a:tblStyle styleId="{A9BEDBF6-92C2-4FDE-9F8A-C136DC636DB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ab067a541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ab067a541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ab067a541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ab067a541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ab067a541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ab067a541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ab067a541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ab067a541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ab067a541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ab067a541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ab067a541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ab067a541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ab067a541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ab067a541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ab067a541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fab067a541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ab067a541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ab067a541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ab067a541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fab067a541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ab067a541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ab067a541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ab067a541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ab067a541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 b="1">
                <a:latin typeface="Times New Roman"/>
                <a:ea typeface="Times New Roman"/>
                <a:cs typeface="Times New Roman"/>
                <a:sym typeface="Times New Roman"/>
              </a:rPr>
              <a:t>Title:</a:t>
            </a:r>
            <a:endParaRPr sz="27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 b="1">
                <a:latin typeface="Times New Roman"/>
                <a:ea typeface="Times New Roman"/>
                <a:cs typeface="Times New Roman"/>
                <a:sym typeface="Times New Roman"/>
              </a:rPr>
              <a:t>Intelligent Document Extraction, Validation &amp; API Platform</a:t>
            </a:r>
            <a:endParaRPr sz="27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446200"/>
            <a:ext cx="8520600" cy="11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Engineer Internship – Technical Case Study </a:t>
            </a:r>
            <a:endParaRPr sz="25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836000" y="3225500"/>
            <a:ext cx="4308000" cy="9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</a:rPr>
              <a:t>Candidate: Ananthi R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Document Intelligence Solution 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212275" y="4459425"/>
            <a:ext cx="76113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FastAPI | OCR | Gemini | SQLite | HTML/CSS/JavaScript </a:t>
            </a: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 b="1">
                <a:latin typeface="Times New Roman"/>
                <a:ea typeface="Times New Roman"/>
                <a:cs typeface="Times New Roman"/>
                <a:sym typeface="Times New Roman"/>
              </a:rPr>
              <a:t>Problem Statement &amp; Objective </a:t>
            </a:r>
            <a:endParaRPr sz="212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Financial documents arrive in different layouts and formats.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Documents may be native PDFs or scanned PDF/JPG/PNG images.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OCR errors and varying financial tables make manual extraction difficult.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solution must extract all meaningful document information into structured JSON.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Financial relationships must be validated using deterministic calculations.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Processed results must be stored and accessible through REST APIs and a dashboard.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/>
          </a:p>
        </p:txBody>
      </p:sp>
      <p:pic>
        <p:nvPicPr>
          <p:cNvPr id="64" name="Google Shape;64;p14" title="ChatGPT Image Sep 12, 2026, 01_13_41 AM.png"/>
          <p:cNvPicPr preferRelativeResize="0"/>
          <p:nvPr/>
        </p:nvPicPr>
        <p:blipFill rotWithShape="1">
          <a:blip r:embed="rId3">
            <a:alphaModFix/>
          </a:blip>
          <a:srcRect t="20800" b="27201"/>
          <a:stretch/>
        </p:blipFill>
        <p:spPr>
          <a:xfrm>
            <a:off x="543025" y="2790350"/>
            <a:ext cx="7670877" cy="143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 b="1">
                <a:latin typeface="Times New Roman"/>
                <a:ea typeface="Times New Roman"/>
                <a:cs typeface="Times New Roman"/>
                <a:sym typeface="Times New Roman"/>
              </a:rPr>
              <a:t>Solution Architecture</a:t>
            </a:r>
            <a:r>
              <a:rPr lang="en" sz="212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1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1" name="Google Shape;71;p15" title="ChatGPT Image Sep 12, 2026, 01_07_52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050" y="967450"/>
            <a:ext cx="4812825" cy="350997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5624550" y="1502350"/>
            <a:ext cx="2671800" cy="26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Modular architecture with separate validation, OCR, extraction, validation, repository and API layers.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SQLite stores processed results for dashboard retrieval.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AI is used for extraction; deterministic Python is used for financial calculations.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 b="1">
                <a:latin typeface="Times New Roman"/>
                <a:ea typeface="Times New Roman"/>
                <a:cs typeface="Times New Roman"/>
                <a:sym typeface="Times New Roman"/>
              </a:rPr>
              <a:t>Processing Pipeline </a:t>
            </a:r>
            <a:endParaRPr sz="222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 Validation</a:t>
            </a:r>
            <a:endParaRPr sz="13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PDF / JPG / PNG only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Maximum 3 pages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Empty/corrupted file handling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file integrity check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OCR Strategy</a:t>
            </a:r>
            <a:endParaRPr sz="13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Native PDF text extraction first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OCR.Space for scanned/image documents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Gemini Vision fallback when required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9" name="Google Shape;79;p16" title="ChatGPT Image Sep 12, 2026, 01_04_39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5950" y="349925"/>
            <a:ext cx="3766525" cy="453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46479"/>
              <a:buFont typeface="Arial"/>
              <a:buNone/>
            </a:pPr>
            <a:r>
              <a:rPr lang="en" sz="2367" b="1">
                <a:latin typeface="Times New Roman"/>
                <a:ea typeface="Times New Roman"/>
                <a:cs typeface="Times New Roman"/>
                <a:sym typeface="Times New Roman"/>
              </a:rPr>
              <a:t>Supported Documents &amp; Structured Extraction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7"/>
          <p:cNvSpPr/>
          <p:nvPr/>
        </p:nvSpPr>
        <p:spPr>
          <a:xfrm>
            <a:off x="639025" y="1262825"/>
            <a:ext cx="1993200" cy="261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Invoice</a:t>
            </a:r>
            <a:endParaRPr sz="13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Invoice details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Vendor / customer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Currency and totals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 items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Discount / tax / rounding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Evidence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2784250" y="1262825"/>
            <a:ext cx="1871400" cy="261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Balance Sheet</a:t>
            </a:r>
            <a:endParaRPr sz="13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 headers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Reporting periods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Assets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Liabilities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Equity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line items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4807675" y="1263300"/>
            <a:ext cx="1871400" cy="261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Profit &amp; Loss</a:t>
            </a:r>
            <a:endParaRPr sz="13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Income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Expenses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Profit values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Comparative periods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Appropriation information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6907450" y="1262950"/>
            <a:ext cx="1719300" cy="261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Cash Flow</a:t>
            </a:r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activities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Investing activities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Financing activities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Opening / closing cash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FX / adjustments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669450" y="4260100"/>
            <a:ext cx="3697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Missing or unsupported values → </a:t>
            </a:r>
            <a:r>
              <a:rPr lang="en" sz="15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null</a:t>
            </a:r>
            <a:endParaRPr sz="15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guessing or invented values. </a:t>
            </a:r>
            <a:endParaRPr sz="2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242775" y="1693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 b="1" dirty="0">
                <a:latin typeface="Times New Roman"/>
                <a:ea typeface="Times New Roman"/>
                <a:cs typeface="Times New Roman"/>
                <a:sym typeface="Times New Roman"/>
              </a:rPr>
              <a:t>Financial Validation </a:t>
            </a:r>
            <a:endParaRPr sz="212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775" y="836800"/>
            <a:ext cx="5926200" cy="37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Financial calculations are performed using Python, not the LLM. 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92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nvoice </a:t>
            </a:r>
            <a:endParaRPr sz="13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Balance Sheet </a:t>
            </a:r>
            <a:endParaRPr sz="1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3940600" y="1399750"/>
            <a:ext cx="4891800" cy="3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Profit &amp; Loss</a:t>
            </a:r>
            <a:endParaRPr sz="13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Cash Flow 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491050" y="1785400"/>
            <a:ext cx="3075900" cy="1860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Quantity × Unit Price ≈ Line Amount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Sum(Line Amounts) ≈ Subtotal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Taxable Amount + Tax + Round Off ≈ Total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Cash Paid − Total ≈ Change</a:t>
            </a:r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534175" y="4075175"/>
            <a:ext cx="3075900" cy="379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Capital &amp; Liabilities ≈ Total Assets</a:t>
            </a:r>
            <a:endParaRPr/>
          </a:p>
        </p:txBody>
      </p:sp>
      <p:sp>
        <p:nvSpPr>
          <p:cNvPr id="99" name="Google Shape;99;p18"/>
          <p:cNvSpPr/>
          <p:nvPr/>
        </p:nvSpPr>
        <p:spPr>
          <a:xfrm>
            <a:off x="4057925" y="1852041"/>
            <a:ext cx="2981100" cy="1275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Interest Earned + Other Income ≈ Total Income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Income − Total Expenditure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≈ Net Profit before Minority Interest</a:t>
            </a:r>
            <a:endParaRPr/>
          </a:p>
        </p:txBody>
      </p:sp>
      <p:sp>
        <p:nvSpPr>
          <p:cNvPr id="100" name="Google Shape;100;p18"/>
          <p:cNvSpPr/>
          <p:nvPr/>
        </p:nvSpPr>
        <p:spPr>
          <a:xfrm>
            <a:off x="4057925" y="3437675"/>
            <a:ext cx="3334200" cy="1275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OCF + ICF + FCF + FX</a:t>
            </a:r>
            <a:endParaRPr sz="1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≈ Net Change in Cash</a:t>
            </a:r>
            <a:endParaRPr sz="1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Opening Cash + Net Change + Adjustments ≈ Closing Cash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>
            <a:spLocks noGrp="1"/>
          </p:cNvSpPr>
          <p:nvPr>
            <p:ph type="title"/>
          </p:nvPr>
        </p:nvSpPr>
        <p:spPr>
          <a:xfrm>
            <a:off x="449550" y="177950"/>
            <a:ext cx="484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latin typeface="Times New Roman"/>
                <a:ea typeface="Times New Roman"/>
                <a:cs typeface="Times New Roman"/>
                <a:sym typeface="Times New Roman"/>
              </a:rPr>
              <a:t>Financial Validation – PASS &amp; FAIL Examples</a:t>
            </a:r>
            <a:endParaRPr sz="16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990"/>
              <a:buNone/>
            </a:pP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534275" y="3637650"/>
            <a:ext cx="4952400" cy="18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534275" y="653900"/>
            <a:ext cx="3902700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Successful validation -</a:t>
            </a:r>
            <a:r>
              <a:rPr lang="en" sz="1100">
                <a:solidFill>
                  <a:schemeClr val="dk1"/>
                </a:solidFill>
              </a:rPr>
              <a:t>PASS Case – Invoice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20251118_000612.jpg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8" name="Google Shape;108;p19"/>
          <p:cNvGraphicFramePr/>
          <p:nvPr/>
        </p:nvGraphicFramePr>
        <p:xfrm>
          <a:off x="534275" y="1137000"/>
          <a:ext cx="4519375" cy="2395700"/>
        </p:xfrm>
        <a:graphic>
          <a:graphicData uri="http://schemas.openxmlformats.org/drawingml/2006/table">
            <a:tbl>
              <a:tblPr>
                <a:noFill/>
                <a:tableStyleId>{A9BEDBF6-92C2-4FDE-9F8A-C136DC636DB9}</a:tableStyleId>
              </a:tblPr>
              <a:tblGrid>
                <a:gridCol w="375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37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Validation Check</a:t>
                      </a:r>
                      <a:endParaRPr sz="13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</a:t>
                      </a:r>
                      <a:endParaRPr sz="13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Line-item calculations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PASS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Discount handling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PASS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Line items → Subtotal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PASS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Taxable Amount + Tax + Round Off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PASS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Invoice Total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PASS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9" name="Google Shape;109;p19"/>
          <p:cNvSpPr txBox="1"/>
          <p:nvPr/>
        </p:nvSpPr>
        <p:spPr>
          <a:xfrm>
            <a:off x="5600125" y="715100"/>
            <a:ext cx="2860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 failure detected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FAIL Case – Invoice batch2-0499.jpg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5643200" y="1395725"/>
            <a:ext cx="3500700" cy="28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of line-item amounts = 145.00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Reported subtotal        = 135.00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Variance                 = 10.00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                   = FAIL ❌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does not force documents to PASS.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reports genuine financial inconsistencies found in the source document.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9"/>
          <p:cNvSpPr/>
          <p:nvPr/>
        </p:nvSpPr>
        <p:spPr>
          <a:xfrm>
            <a:off x="542775" y="3670225"/>
            <a:ext cx="2998200" cy="1283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Taxable Amount = 5,815.17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Tax Amount     = 1,046.72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Round Off      = 0.11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5,815.17 + 1,046.72 + 0.11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6,862.00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Result: PASS ✅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>
                <a:latin typeface="Times New Roman"/>
                <a:ea typeface="Times New Roman"/>
                <a:cs typeface="Times New Roman"/>
                <a:sym typeface="Times New Roman"/>
              </a:rPr>
              <a:t>APIs, Dashboard &amp; Persistence </a:t>
            </a:r>
            <a:endParaRPr sz="21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507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API’S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 /api/v1/documents/process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 /api/v1/documents/{document_name}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 /api/v1/documents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 /api/v1/health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8" name="Google Shape;118;p20" title="Screenshot 2026-09-12 055514.png"/>
          <p:cNvPicPr preferRelativeResize="0"/>
          <p:nvPr/>
        </p:nvPicPr>
        <p:blipFill rotWithShape="1">
          <a:blip r:embed="rId3">
            <a:alphaModFix/>
          </a:blip>
          <a:srcRect b="19840"/>
          <a:stretch/>
        </p:blipFill>
        <p:spPr>
          <a:xfrm>
            <a:off x="3686700" y="5143500"/>
            <a:ext cx="4965700" cy="412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0"/>
          <p:cNvSpPr txBox="1"/>
          <p:nvPr/>
        </p:nvSpPr>
        <p:spPr>
          <a:xfrm>
            <a:off x="4047100" y="1262825"/>
            <a:ext cx="4785300" cy="31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 type selection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PDF/JPG/PNG upload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Processing status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Extracted key-value fields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Line-item tables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Financial validation results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Raw JSON viewer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Database-backed processed-document list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380375" y="3605875"/>
            <a:ext cx="6892200" cy="10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FastAPI automatically provides Swagger/OpenAPI documentation at </a:t>
            </a:r>
            <a:r>
              <a:rPr lang="en" sz="15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/docs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2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 b="1">
                <a:latin typeface="Times New Roman"/>
                <a:ea typeface="Times New Roman"/>
                <a:cs typeface="Times New Roman"/>
                <a:sym typeface="Times New Roman"/>
              </a:rPr>
              <a:t>Technology Stack &amp; Engineering Decisions </a:t>
            </a:r>
            <a:endParaRPr sz="212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6" name="Google Shape;126;p21"/>
          <p:cNvGraphicFramePr/>
          <p:nvPr/>
        </p:nvGraphicFramePr>
        <p:xfrm>
          <a:off x="448525" y="513500"/>
          <a:ext cx="4457775" cy="4395623"/>
        </p:xfrm>
        <a:graphic>
          <a:graphicData uri="http://schemas.openxmlformats.org/drawingml/2006/table">
            <a:tbl>
              <a:tblPr>
                <a:noFill/>
                <a:tableStyleId>{A9BEDBF6-92C2-4FDE-9F8A-C136DC636DB9}</a:tableStyleId>
              </a:tblPr>
              <a:tblGrid>
                <a:gridCol w="166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08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Component</a:t>
                      </a:r>
                      <a:endParaRPr sz="15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Technology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Backend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FastAPI / Python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Structured schemas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Pydantic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AI extraction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Gemini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OCR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OCR.Space + Gemini Vision fallback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PDF handling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PyPDF / PyMuPDF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Database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SQLite + SQLAlchemy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Frontend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HTML / CSS / JavaScript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4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API documentation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Swagger / OpenAPI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Version control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GitHub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8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Deployment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Render </a:t>
                      </a:r>
                      <a:r>
                        <a:rPr lang="en" sz="1200" i="1"/>
                        <a:t>(once confirmed)</a:t>
                      </a:r>
                      <a:endParaRPr sz="1200" i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27" name="Google Shape;127;p21"/>
          <p:cNvSpPr txBox="1"/>
          <p:nvPr/>
        </p:nvSpPr>
        <p:spPr>
          <a:xfrm>
            <a:off x="5202700" y="555050"/>
            <a:ext cx="3322800" cy="41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Design Decisions</a:t>
            </a:r>
            <a:endParaRPr sz="13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selects document type — no unnecessary auto-classifier.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 handles unstructured extraction.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handles deterministic arithmetic.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Evidence/source text improves traceability.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Modular services improve maintainability.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 variables protect API keys.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2" title="Screenshot 2026-09-12 0617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8825" y="264025"/>
            <a:ext cx="5948024" cy="167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8825" y="1994500"/>
            <a:ext cx="5948025" cy="301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>
            <a:spLocks noGrp="1"/>
          </p:cNvSpPr>
          <p:nvPr>
            <p:ph type="title"/>
          </p:nvPr>
        </p:nvSpPr>
        <p:spPr>
          <a:xfrm>
            <a:off x="259900" y="1119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20" b="1">
                <a:latin typeface="Times New Roman"/>
                <a:ea typeface="Times New Roman"/>
                <a:cs typeface="Times New Roman"/>
                <a:sym typeface="Times New Roman"/>
              </a:rPr>
              <a:t>Testing, Limitations &amp; Deployment </a:t>
            </a:r>
            <a:endParaRPr sz="162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3"/>
          <p:cNvSpPr txBox="1">
            <a:spLocks noGrp="1"/>
          </p:cNvSpPr>
          <p:nvPr>
            <p:ph type="body" idx="1"/>
          </p:nvPr>
        </p:nvSpPr>
        <p:spPr>
          <a:xfrm>
            <a:off x="311700" y="569850"/>
            <a:ext cx="5308800" cy="39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Tested all four document types.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Tested scanned/image invoices.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Tested valid financial reconciliation.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Tested real financial validation failure.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Tested missing values.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Tested OCR fallback.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Invalid/unsupported file test.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automated tests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Limitations 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OCR accuracy depends on source image quality.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Free-tier API/model quotas may affect availability.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complex table layouts can produce row alignment issues.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SQLite is suitable for prototype scale, not large production workloads.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Confidence scoring not implemented.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>
            <a:spLocks noGrp="1"/>
          </p:cNvSpPr>
          <p:nvPr>
            <p:ph type="body" idx="1"/>
          </p:nvPr>
        </p:nvSpPr>
        <p:spPr>
          <a:xfrm>
            <a:off x="222875" y="236825"/>
            <a:ext cx="4349100" cy="25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 Improvements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 / managed database</a:t>
            </a:r>
            <a:endParaRPr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task queue</a:t>
            </a:r>
            <a:endParaRPr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robust table extraction</a:t>
            </a:r>
            <a:endParaRPr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/ authorization</a:t>
            </a:r>
            <a:endParaRPr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Monitoring and metrics</a:t>
            </a:r>
            <a:endParaRPr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evaluation dataset</a:t>
            </a:r>
            <a:endParaRPr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Containerized deployment</a:t>
            </a:r>
            <a:endParaRPr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300" dirty="0"/>
          </a:p>
        </p:txBody>
      </p:sp>
      <p:sp>
        <p:nvSpPr>
          <p:cNvPr id="145" name="Google Shape;145;p24"/>
          <p:cNvSpPr txBox="1"/>
          <p:nvPr/>
        </p:nvSpPr>
        <p:spPr>
          <a:xfrm>
            <a:off x="333900" y="2504175"/>
            <a:ext cx="8426700" cy="24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chemeClr val="dk1"/>
                </a:solidFill>
              </a:rPr>
              <a:t>GitHub: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chemeClr val="dk1"/>
                </a:solidFill>
              </a:rPr>
              <a:t>https://github.com/Ananthi0207/document-intelligence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chemeClr val="dk1"/>
                </a:solidFill>
              </a:rPr>
              <a:t>Frontend: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chemeClr val="dk1"/>
                </a:solidFill>
              </a:rPr>
              <a:t>[ADD DEPLOYED URL]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chemeClr val="dk1"/>
                </a:solidFill>
              </a:rPr>
              <a:t>API: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chemeClr val="dk1"/>
                </a:solidFill>
              </a:rPr>
              <a:t>[ADD DEPLOYED URL]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chemeClr val="dk1"/>
                </a:solidFill>
              </a:rPr>
              <a:t>Swagger: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chemeClr val="dk1"/>
                </a:solidFill>
              </a:rPr>
              <a:t>[ADD /docs URL]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>
            <a:spLocks noGrp="1"/>
          </p:cNvSpPr>
          <p:nvPr>
            <p:ph type="title"/>
          </p:nvPr>
        </p:nvSpPr>
        <p:spPr>
          <a:xfrm>
            <a:off x="39145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25"/>
          <p:cNvSpPr txBox="1">
            <a:spLocks noGrp="1"/>
          </p:cNvSpPr>
          <p:nvPr>
            <p:ph type="body" idx="1"/>
          </p:nvPr>
        </p:nvSpPr>
        <p:spPr>
          <a:xfrm>
            <a:off x="311700" y="501700"/>
            <a:ext cx="7640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an end-to-end document intelligence prototype supporting four financial document types.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Combined OCR + LLM extraction with deterministic financial validation and evidence-grounded structured output.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Delivered results through REST APIs, persistent storage and a web dashboard.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Implemented source-grounded extraction with evidence text and page references to improve traceability.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Added database-backed persistence so processed documents can be retrieved later and viewed through the dashboard.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the solution in a modular way so OCR, AI extraction, financial validation, API, and database layers can be improved independently.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892</Words>
  <Application>Microsoft Office PowerPoint</Application>
  <PresentationFormat>On-screen Show (16:9)</PresentationFormat>
  <Paragraphs>196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Times New Roman</vt:lpstr>
      <vt:lpstr>Roboto Mono</vt:lpstr>
      <vt:lpstr>Arial</vt:lpstr>
      <vt:lpstr>Simple Light</vt:lpstr>
      <vt:lpstr>Title: Intelligent Document Extraction, Validation &amp; API Platform </vt:lpstr>
      <vt:lpstr>Problem Statement &amp; Objective </vt:lpstr>
      <vt:lpstr>Solution Architecture </vt:lpstr>
      <vt:lpstr>Processing Pipeline </vt:lpstr>
      <vt:lpstr>Supported Documents &amp; Structured Extraction </vt:lpstr>
      <vt:lpstr>Financial Validation </vt:lpstr>
      <vt:lpstr>Financial Validation – PASS &amp; FAIL Examples </vt:lpstr>
      <vt:lpstr>APIs, Dashboard &amp; Persistence </vt:lpstr>
      <vt:lpstr>Technology Stack &amp; Engineering Decisions </vt:lpstr>
      <vt:lpstr>PowerPoint Presentation</vt:lpstr>
      <vt:lpstr>Testing, Limitations &amp; Deployment </vt:lpstr>
      <vt:lpstr>PowerPoint Presentation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ananthi0005@outlook.com</cp:lastModifiedBy>
  <cp:revision>1</cp:revision>
  <dcterms:modified xsi:type="dcterms:W3CDTF">2026-09-12T01:08:21Z</dcterms:modified>
</cp:coreProperties>
</file>